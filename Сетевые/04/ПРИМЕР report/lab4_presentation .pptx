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экспериментального стенда GNS3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1945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Администрирование сетевых подсистем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Одеджими Олуваколаде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НПИбд-01-23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Российский университет дружбы народов (РУДН)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задачи работы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Установка и настройка GNS3 и сопутствующего программного обеспечения для моделирования компьютерных сетей.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Установить и запустить GNS3 VM в VMware Workstation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Импортировать и настроить образ маршрутизатора FRR (FRRouting v8.2.2)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Импортировать и настроить образ маршрутизатора VyOS (v1.3.3)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8152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Построить тестовые топологии и проверить сетевую связность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8444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анализ трафика с помощью Wireshark (ARP, ICMP, UDP, TCP)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8736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87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платформы FRR и VyOS в роли шлюза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1: Установка GNS3 VM в VMware Workstation</a:t>
            </a:r>
            <a:endParaRPr lang="en-US" sz="2200" dirty="0"/>
          </a:p>
        </p:txBody>
      </p:sp>
      <p:pic>
        <p:nvPicPr>
          <p:cNvPr id="4" name="Image 0" descr="/mnt/user-data/uploads/Screenshot__43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0292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904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1. GNS3 VM запущена (v3.0.5, IP 192.168.92.128:80)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77840" y="685800"/>
            <a:ext cx="329184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8046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GNS3 Server: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06640" y="8046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3.0.5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11521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Виртуализация: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11521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0" y="14996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KVM-поддержка: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14996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1847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IP-адрес: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1847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192.168.92.128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194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2194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2542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2542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Noble (24.04)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0" y="28895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Qemu: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28895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8.2.2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0" y="32369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version: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06640" y="32369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0.16.0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2: Импорт образа маршрутизатора FRR</a:t>
            </a:r>
            <a:endParaRPr lang="en-US" sz="2200" dirty="0"/>
          </a:p>
        </p:txBody>
      </p:sp>
      <p:pic>
        <p:nvPicPr>
          <p:cNvPr id="4" name="Image 0" descr="/mnt/user-data/uploads/Screenshot__48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11480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172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2. Выбор образа FRR в каталоге GNS3</a:t>
            </a:r>
            <a:endParaRPr lang="en-US" sz="900" dirty="0"/>
          </a:p>
        </p:txBody>
      </p:sp>
      <p:pic>
        <p:nvPicPr>
          <p:cNvPr id="6" name="Image 1" descr="/mnt/user-data/uploads/Screenshot__4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85800"/>
            <a:ext cx="429768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1729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3. FRR 8.2.2 — "Ready to install"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0690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 (FRRouting) — маршрутизатор с открытым исходным кодом, поддерживающий BGP, OSPF, IS-IS, RIP, MPLS и другие протоколы. Архитектура: x86_64, RAM 256 МБ, 8 адаптеров e1000, консоль Telnet.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шаблона FRR — General Settings и HDD</a:t>
            </a:r>
            <a:endParaRPr lang="en-US" sz="2200" dirty="0"/>
          </a:p>
        </p:txBody>
      </p:sp>
      <p:pic>
        <p:nvPicPr>
          <p:cNvPr id="4" name="Image 0" descr="/mnt/user-data/uploads/Screenshot__52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11480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3558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4. General Settings — "Send shutdown signal (ACPI)"</a:t>
            </a:r>
            <a:endParaRPr lang="en-US" sz="900" dirty="0"/>
          </a:p>
        </p:txBody>
      </p:sp>
      <p:pic>
        <p:nvPicPr>
          <p:cNvPr id="6" name="Image 1" descr="/mnt/user-data/uploads/Screenshot__53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85800"/>
            <a:ext cx="429768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3558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5. HDD — "Automatically create a config disk"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1605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close: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 the shutdown signal (ACPI)  | 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HDD: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frr-8.2.2.qcow2 + auto config disk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Успешный запуск FRR в GNS3</a:t>
            </a:r>
            <a:endParaRPr lang="en-US" sz="2200" dirty="0"/>
          </a:p>
        </p:txBody>
      </p:sp>
      <p:pic>
        <p:nvPicPr>
          <p:cNvPr id="4" name="Image 0" descr="/mnt/user-data/uploads/Screenshot__54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3035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1788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6. FRR-1 загружен — FRRouting v8.2.2</a:t>
            </a:r>
            <a:endParaRPr lang="en-US" sz="900" dirty="0"/>
          </a:p>
        </p:txBody>
      </p:sp>
      <p:pic>
        <p:nvPicPr>
          <p:cNvPr id="6" name="Image 1" descr="/mnt/user-data/uploads/Screenshot__55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685800"/>
            <a:ext cx="329184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29900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 Топология GNS3 с FRR-1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577840" y="3200400"/>
            <a:ext cx="338328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0" y="3246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Учётные данные: root /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CLI: команда vtysh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3: Импорт и запуск образа маршрутизатора VyOS</a:t>
            </a:r>
            <a:endParaRPr lang="en-US" sz="2200" dirty="0"/>
          </a:p>
        </p:txBody>
      </p:sp>
      <p:pic>
        <p:nvPicPr>
          <p:cNvPr id="4" name="Image 0" descr="/mnt/user-data/uploads/Screenshot__57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11480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172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8. VyOS 1.3.3-qemu — "Ready to install"</a:t>
            </a:r>
            <a:endParaRPr lang="en-US" sz="900" dirty="0"/>
          </a:p>
        </p:txBody>
      </p:sp>
      <p:pic>
        <p:nvPicPr>
          <p:cNvPr id="6" name="Image 1" descr="/mnt/user-data/uploads/Screenshot__5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85800"/>
            <a:ext cx="429768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1729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9. VyOS-1 успешно загружен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087368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VyOS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дистрибутив на основе Debian с JunOS-подобным CLI. Поддерживает транзакционную модель конфигурации (configure / commit / save). Учётные данные: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vyos / vyos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топология: PC1 — Коммутатор — PC2</a:t>
            </a:r>
            <a:endParaRPr lang="en-US" sz="2200" dirty="0"/>
          </a:p>
        </p:txBody>
      </p:sp>
      <p:pic>
        <p:nvPicPr>
          <p:cNvPr id="4" name="Image 0" descr="/mnt/user-data/uploads/Screenshot__6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029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630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10. Топология PC1 — SW-01 — PC2</a:t>
            </a:r>
            <a:endParaRPr lang="en-US" sz="900" dirty="0"/>
          </a:p>
        </p:txBody>
      </p:sp>
      <p:pic>
        <p:nvPicPr>
          <p:cNvPr id="6" name="Image 1" descr="/mnt/user-data/uploads/Screenshot__64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85800"/>
            <a:ext cx="356616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2990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 IP-настройка и ping между ПК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394960" y="3200400"/>
            <a:ext cx="356616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0" y="3291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PC1-ODEJIMI: 192.168.1.11/24, GW 192.168.1.1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0" y="3685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PC2-ODEJIMI: 192.168.1.12/24, GW 192.168.1.1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40782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PC1→PC2: 5/5 пакетов, RTT &lt; 10 мс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трафика: ARP и ICMP в Wireshark</a:t>
            </a:r>
            <a:endParaRPr lang="en-US" sz="2200" dirty="0"/>
          </a:p>
        </p:txBody>
      </p:sp>
      <p:pic>
        <p:nvPicPr>
          <p:cNvPr id="4" name="Image 0" descr="/mnt/user-data/uploads/Screenshot__65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2976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472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12. ARP Gratuitous пакеты</a:t>
            </a:r>
            <a:endParaRPr lang="en-US" sz="900" dirty="0"/>
          </a:p>
        </p:txBody>
      </p:sp>
      <p:pic>
        <p:nvPicPr>
          <p:cNvPr id="6" name="Image 1" descr="/mnt/user-data/uploads/Screenshot__67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85800"/>
            <a:ext cx="42976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4472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13. ICMP Echo Request (Type 8)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11480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ARP: Gratuitous ARP при назначении IP-адресов; разрешение MAC-адресов перед первым пингом.  ICMP: Echo Request (Type 8) / Reply (Type 0), TTL=64, корректные контрольные суммы.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трафика: UDP и TCP (ping -2 / -3)</a:t>
            </a:r>
            <a:endParaRPr lang="en-US" sz="2200" dirty="0"/>
          </a:p>
        </p:txBody>
      </p:sp>
      <p:pic>
        <p:nvPicPr>
          <p:cNvPr id="4" name="Image 0" descr="/mnt/user-data/uploads/Screenshot__68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2976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472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14. UDP Echo — протокол 17, порт 7</a:t>
            </a:r>
            <a:endParaRPr lang="en-US" sz="900" dirty="0"/>
          </a:p>
        </p:txBody>
      </p:sp>
      <p:pic>
        <p:nvPicPr>
          <p:cNvPr id="6" name="Image 1" descr="/mnt/user-data/uploads/Screenshot__6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85800"/>
            <a:ext cx="42976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4472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15. TCP SYN/ACK — флаги 0x012</a:t>
            </a:r>
            <a:endParaRPr lang="en-US" sz="900" dirty="0"/>
          </a:p>
        </p:txBody>
      </p:sp>
      <p:pic>
        <p:nvPicPr>
          <p:cNvPr id="8" name="Image 2" descr="/mnt/user-data/uploads/Screenshot__70_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566160"/>
            <a:ext cx="4297680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" y="47731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16. ping -1/-2/-3 (ICMP/UDP/TCP)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663440" y="3566160"/>
            <a:ext cx="429768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754880" y="3639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 (−1): RTT 5.755 мс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54880" y="3959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 (−2): RTT 157.243 мс (echo port 7)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54880" y="4279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 (−3): SYN→SYN-ACK→ACK, RTT 16 мс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Топология с FRR в роли шлюза (msk-ODEJIMI-gw-01)</a:t>
            </a:r>
            <a:endParaRPr lang="en-US" sz="2200" dirty="0"/>
          </a:p>
        </p:txBody>
      </p:sp>
      <p:pic>
        <p:nvPicPr>
          <p:cNvPr id="4" name="Image 0" descr="/mnt/user-data/uploads/Screenshot__7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4728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17. Топология PC1 — SW — FRR-шлюз</a:t>
            </a:r>
            <a:endParaRPr lang="en-US" sz="900" dirty="0"/>
          </a:p>
        </p:txBody>
      </p:sp>
      <p:pic>
        <p:nvPicPr>
          <p:cNvPr id="6" name="Image 1" descr="/mnt/user-data/uploads/Screenshot__73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685800"/>
            <a:ext cx="38404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0640" y="34472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18. Конфигурация FRR (hostname, eth0)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0690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 FRR: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terminal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 msk-ODEJIMI-gw-01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 address 192.168.1.1/24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shutdown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memory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связности: PC1 → FRR-шлюз + Wireshark</a:t>
            </a:r>
            <a:endParaRPr lang="en-US" sz="2200" dirty="0"/>
          </a:p>
        </p:txBody>
      </p:sp>
      <p:pic>
        <p:nvPicPr>
          <p:cNvPr id="4" name="Image 0" descr="/mnt/user-data/uploads/Screenshot__75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029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630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19. Пинг 192.168.1.10 → 192.168.1.1 (FRR)</a:t>
            </a:r>
            <a:endParaRPr lang="en-US" sz="900" dirty="0"/>
          </a:p>
        </p:txBody>
      </p:sp>
      <p:pic>
        <p:nvPicPr>
          <p:cNvPr id="6" name="Image 1" descr="/mnt/user-data/uploads/Screenshot__76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85800"/>
            <a:ext cx="356616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30815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20. ICMP в Wireshark (PC1→FRR)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394960" y="3291840"/>
            <a:ext cx="356616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0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PC1: 192.168.1.10/24, GW 192.168.1.1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0" y="37764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 eth0: 192.168.1.1/24, status UP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41696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 пакетов, RTT: 26 – 143 мс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Топология с VyOS в роли шлюза (msk-ODEJIMI-gw-01)</a:t>
            </a:r>
            <a:endParaRPr lang="en-US" sz="2200" dirty="0"/>
          </a:p>
        </p:txBody>
      </p:sp>
      <p:pic>
        <p:nvPicPr>
          <p:cNvPr id="4" name="Image 0" descr="/mnt/user-data/uploads/Screenshot__77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5720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472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21. Топология PC1 — SW — VyOS-шлюз</a:t>
            </a:r>
            <a:endParaRPr lang="en-US" sz="900" dirty="0"/>
          </a:p>
        </p:txBody>
      </p:sp>
      <p:pic>
        <p:nvPicPr>
          <p:cNvPr id="6" name="Image 1" descr="/mnt/user-data/uploads/Screenshot__7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85800"/>
            <a:ext cx="402336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3447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22. Commit, save, show interfaces VyOS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087368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 VyOS (configure mode):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system host-name msk-ODEJIMI-gw-01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interface ethernet eth0 address 192.168.1.1/24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interface ethernet eth0 address dhcp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 →  save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связности: PC1 → VyOS-шлюз + Wireshark</a:t>
            </a:r>
            <a:endParaRPr lang="en-US" sz="2200" dirty="0"/>
          </a:p>
        </p:txBody>
      </p:sp>
      <p:pic>
        <p:nvPicPr>
          <p:cNvPr id="4" name="Image 0" descr="/mnt/user-data/uploads/Screenshot__80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029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630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23. Пинг 192.168.1.10 → 192.168.1.1 (VyOS)</a:t>
            </a:r>
            <a:endParaRPr lang="en-US" sz="900" dirty="0"/>
          </a:p>
        </p:txBody>
      </p:sp>
      <p:pic>
        <p:nvPicPr>
          <p:cNvPr id="6" name="Image 1" descr="/mnt/user-data/uploads/Screenshot__81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85800"/>
            <a:ext cx="356616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30815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24. ICMP в Wireshark (PC1→VyOS)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394960" y="3291840"/>
            <a:ext cx="356616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0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PC1: 192.168.1.10/24, GW 192.168.1.1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0" y="37764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VyOS eth0: 192.168.1.1/24, HW 0c:cb:4b:5e:00:00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41696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 пакетов, RTT: 2 – 420 мс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FRR и VyOS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FRR (FRRouting)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VyOS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Версия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FRR 8.2.2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VyOS 1.3.3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(Alpine/BusyBox)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Debian Linux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CLI-стиль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Cisco/Quagga-подобный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Juniper JunOS-подобный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Конфигурация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configure terminal → exit → write 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configure → commit → save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Учётные данные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/ root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vyos / vyos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Размер образа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 МБ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 МБ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Протоколы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BGP, OSPF, IS-IS, RIP, MPLS...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BGP, OSPF, RIP, L2TP, IPsec...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CLI-доступ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vtysh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vyos shell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92608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949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GNS3 VM (v3.0.5) успешно развёрнута в VMware Workstation, GNS3 GUI подключён к серверу автоматически по адресу 192.168.92.128.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399032"/>
            <a:ext cx="292608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3807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 FRR 8.2.2 импортирован и настроен: корректное завершение (ACPI), автосохранение конфигурации на диске.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292608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0665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 VyOS 1.3.3 (Qemu) импортирован и настроен. Транзакционная модель конфигурации обеспечивает атомарное применение изменений.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70632"/>
            <a:ext cx="292608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7523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топология (2 VPCS + коммутатор) обеспечила связность: ping 5/5 с RTT &lt; 10 мс.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292608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4381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Wireshark подтвердил корректную работу ARP, ICMP, UDP Echo и TCP-пинга в эмулируемой среде.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142232"/>
            <a:ext cx="292608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1239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платформы (FRR и VyOS) успешно выполнили функцию шлюза: ping с PC1 достиг 192.168.1.1 через оба маршрутизатора.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№4 | РУДН |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 — Подготовка экспериментального стенда GNS3</dc:title>
  <dc:subject>PptxGenJS Presentation</dc:subject>
  <dc:creator>Одеджими Олуваколаде</dc:creator>
  <cp:lastModifiedBy>Одеджими Олуваколаде</cp:lastModifiedBy>
  <cp:revision>1</cp:revision>
  <dcterms:created xsi:type="dcterms:W3CDTF">2026-03-14T06:31:01Z</dcterms:created>
  <dcterms:modified xsi:type="dcterms:W3CDTF">2026-03-14T06:31:01Z</dcterms:modified>
</cp:coreProperties>
</file>