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ЛАБОРАТОРНАЯ РАБОТА №6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Адресация IPv4 и IPv6. Двойной стек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8412480" cy="228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3736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Дисциплина: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Администрирование сетевых подсистем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Студент: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Одеджими Олуваколаде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Группа: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НПИбд-01-23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Университет: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РУДН, Москва, 2026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Москва,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Цели и задачи работы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Цель: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изучение принципов распределения и настройки адресного пространства на устройствах сети.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1430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182880" cy="18288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630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144475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Разбиение IPv4-сетей на подсети (VLSM)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965960"/>
            <a:ext cx="182880" cy="18288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9659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0352" y="19476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Разбиение IPv6-сетей (идентификатор подсети / интерфейса)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468880"/>
            <a:ext cx="182880" cy="18288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4688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" y="24505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Реализация топологии с двойным стеком в GNS3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971800"/>
            <a:ext cx="182880" cy="18288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9718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0352" y="295351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Настройка IPv4 на маршрутизаторе FRR (msk-Odejimi-gw-01)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474720"/>
            <a:ext cx="182880" cy="18288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4747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0352" y="345643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Настройка DHCP-сервера на VyOS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977640"/>
            <a:ext cx="182880" cy="18288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9776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0352" y="395935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Настройка DHCPv6/SLAAC и IPv6 на VyOS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4480560"/>
            <a:ext cx="182880" cy="18288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4805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30352" y="44622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трафика: ARP, ICMP, ICMPv6, DHCP в Wireshark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" y="4983480"/>
            <a:ext cx="8961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Лаб. №6 | Адресация IPv4/IPv6 | РУДН НПИбд-01-23 | Одеджими Олуваколаде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Разбиение IPv4-сети 172.16.20.0/24 на подсети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Задание: разбить сеть на 3 подсети с max числом узлов 126, 62, 62. Используется VLSM: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219456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78992"/>
            <a:ext cx="21945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Подсеть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1078992"/>
            <a:ext cx="173736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078992"/>
            <a:ext cx="17373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Адрес/префикс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06240" y="1078992"/>
            <a:ext cx="173736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1078992"/>
            <a:ext cx="17373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Маска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1078992"/>
            <a:ext cx="173736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1078992"/>
            <a:ext cx="17373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Broadcast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80960" y="1078992"/>
            <a:ext cx="173736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0" y="1078992"/>
            <a:ext cx="17373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Диапазон узлов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1426464"/>
            <a:ext cx="219456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426464"/>
            <a:ext cx="21945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Подсеть 1 (/25)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468880" y="1426464"/>
            <a:ext cx="173736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0" y="1426464"/>
            <a:ext cx="17373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172.16.20.0/25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06240" y="1426464"/>
            <a:ext cx="173736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0" y="1426464"/>
            <a:ext cx="17373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255.255.255.128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43600" y="1426464"/>
            <a:ext cx="173736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426464"/>
            <a:ext cx="17373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172.16.20.127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680960" y="1426464"/>
            <a:ext cx="173736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0" y="1426464"/>
            <a:ext cx="17373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.1 – .126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1810512"/>
            <a:ext cx="2194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1810512"/>
            <a:ext cx="21945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Подсеть 2 (/26)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468880" y="1810512"/>
            <a:ext cx="1737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68880" y="1810512"/>
            <a:ext cx="17373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172.16.20.128/26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206240" y="1810512"/>
            <a:ext cx="1737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0" y="1810512"/>
            <a:ext cx="17373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255.255.255.192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943600" y="1810512"/>
            <a:ext cx="1737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1810512"/>
            <a:ext cx="17373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172.16.20.191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680960" y="1810512"/>
            <a:ext cx="1737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80960" y="1810512"/>
            <a:ext cx="17373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.129 – .190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74320" y="2194560"/>
            <a:ext cx="219456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2194560"/>
            <a:ext cx="21945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Подсеть 3 (/26)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468880" y="2194560"/>
            <a:ext cx="173736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68880" y="2194560"/>
            <a:ext cx="17373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172.16.20.192/26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206240" y="2194560"/>
            <a:ext cx="173736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06240" y="2194560"/>
            <a:ext cx="17373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255.255.255.192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943600" y="2194560"/>
            <a:ext cx="173736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2194560"/>
            <a:ext cx="17373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172.16.20.255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680960" y="2194560"/>
            <a:ext cx="173736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80960" y="2194560"/>
            <a:ext cx="17373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.193 – .254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274320" y="2670048"/>
            <a:ext cx="8595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Дополнительные задачи: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10.10.1.64/26 → подсеть /27 (30 узлов): 10.10.1.64/27, broadcast 10.10.1.95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10.10.1.0/26 → подсеть /28 (14 узлов): 10.10.1.0/28, broadcast 10.10.1.15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274320" y="37033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Формулы: число подсетей = 2^m, число узлов = 2^n − 2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440" y="4983480"/>
            <a:ext cx="8961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Лаб. №6 | Адресация IPv4/IPv6 | РУДН НПИбд-01-23 | Одеджими Олуваколаде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Разбиение IPv6-сетей на подсети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685800"/>
            <a:ext cx="4297680" cy="201168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132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Сеть 2001:db8:c0de::/48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411480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Тип: документационный префикс 2001:DB8::/32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Диапазон: ::1 … ffff:ffff:ffff:ffff:ffff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Способ 1 — идентификатор подсети (/64):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2001:db8:c0de:0001::/64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2001:db8:c0de:0002::/64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Способ 2 — идентификатор интерфейса (/68):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2001:db8:c0de:0000:0000::/68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2001:db8:c0de:0000:1000::/68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685800"/>
            <a:ext cx="4297680" cy="201168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7132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Сеть 2a02:6b8::/64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1005840"/>
            <a:ext cx="411480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Тип: Global Unicast (2000::/3)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Диапазон: 2a02:6b8::1 … ::ffff:ffff:ffff:ffff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Способ 1 — биты 65–80 (/80):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2a02:6b8::0001:0000::/80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2a02:6b8::0002:0000::/80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Способ 2 — идентификатор интерфейса (/68):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2a02:6b8::0000::/68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2a02:6b8::1000::/68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82880" y="2834640"/>
            <a:ext cx="8778240" cy="12344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88036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отличия от IPv4: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3108960"/>
            <a:ext cx="8503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Разбиение IPv6 не экономит адреса, а создаёт иерархическую структуру
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Предпочтительная граница — полубайт (4 бита = 1 hex-цифра)
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Link-Local (FE80::/10) генерируется автоматически для каждого интерфейса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" y="4983480"/>
            <a:ext cx="8961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Лаб. №6 | Адресация IPv4/IPv6 | РУДН НПИбд-01-23 | Одеджими Олуваколаде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Топология сети с двойным стеком в GNS3</a:t>
            </a:r>
            <a:endParaRPr lang="en-US" sz="2000" dirty="0"/>
          </a:p>
        </p:txBody>
      </p:sp>
      <p:pic>
        <p:nvPicPr>
          <p:cNvPr id="4" name="Image 0" descr="/mnt/user-data/uploads/Screenshot__82_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58368"/>
            <a:ext cx="502920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387705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1. Общая топология GNS3 (Lab6)</a:t>
            </a:r>
            <a:endParaRPr lang="en-US" sz="900" dirty="0"/>
          </a:p>
        </p:txBody>
      </p:sp>
      <p:pic>
        <p:nvPicPr>
          <p:cNvPr id="6" name="Image 1" descr="/mnt/user-data/uploads/Screenshot__83_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58368"/>
            <a:ext cx="3566160" cy="2286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94960" y="296265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2. Финальная топология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394960" y="3200400"/>
            <a:ext cx="3566160" cy="146304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486400" y="327355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IPv4-подсеть: FRR (msk-Odejimi-gw-01)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486400" y="3602736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IPv6-подсеть: VyOS (msk-Odejimi-sw-02)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486400" y="3931920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VPCS + 1 server-Odejimi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486400" y="4261104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коммутаторов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1440" y="4983480"/>
            <a:ext cx="8961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Лаб. №6 | Адресация IPv4/IPv6 | РУДН НПИбд-01-23 | Одеджими Олуваколаде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Настройка IPv4-адресации на VPCS</a:t>
            </a:r>
            <a:endParaRPr lang="en-US" sz="2000" dirty="0"/>
          </a:p>
        </p:txBody>
      </p:sp>
      <p:pic>
        <p:nvPicPr>
          <p:cNvPr id="4" name="Image 0" descr="/mnt/user-data/uploads/Screenshot__84_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58368"/>
            <a:ext cx="4297680" cy="2651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3328416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3. PC1: 172.16.20.10/25, link-local IPv6</a:t>
            </a:r>
            <a:endParaRPr lang="en-US" sz="900" dirty="0"/>
          </a:p>
        </p:txBody>
      </p:sp>
      <p:pic>
        <p:nvPicPr>
          <p:cNvPr id="6" name="Image 1" descr="/mnt/user-data/uploads/Screenshot__85_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658368"/>
            <a:ext cx="4297680" cy="2651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440" y="3328416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4. PC2: 172.16.20.138/25 (GW .129)</a:t>
            </a:r>
            <a:endParaRPr lang="en-US" sz="900" dirty="0"/>
          </a:p>
        </p:txBody>
      </p:sp>
      <p:pic>
        <p:nvPicPr>
          <p:cNvPr id="8" name="Image 2" descr="/mnt/user-data/uploads/Screenshot__86_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3611880"/>
            <a:ext cx="4297680" cy="10972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82880" y="4727448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5. server-Odejimi: 64.100.1.10/24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4663440" y="3611880"/>
            <a:ext cx="4297680" cy="109728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4754880" y="3685032"/>
            <a:ext cx="411480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PC1: 172.16.20.10/25  GW: 172.16.20.1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4754880" y="4002024"/>
            <a:ext cx="411480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PC2: 172.16.20.138/25  GW: 172.16.20.129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4754880" y="4319016"/>
            <a:ext cx="411480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Server: 64.100.1.10/24  GW: 64.100.1.1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91440" y="4983480"/>
            <a:ext cx="8961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Лаб. №6 | Адресация IPv4/IPv6 | РУДН НПИбд-01-23 | Одеджими Олуваколаде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Настройка маршрутизатора FRR (msk-Odejimi-gw-01)</a:t>
            </a:r>
            <a:endParaRPr lang="en-US" sz="2000" dirty="0"/>
          </a:p>
        </p:txBody>
      </p:sp>
      <p:pic>
        <p:nvPicPr>
          <p:cNvPr id="4" name="Image 0" descr="/mnt/user-data/uploads/Screenshot__87_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58368"/>
            <a:ext cx="4297680" cy="2651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3328416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6. Конфигурация eth0/eth1/eth2</a:t>
            </a:r>
            <a:endParaRPr lang="en-US" sz="900" dirty="0"/>
          </a:p>
        </p:txBody>
      </p:sp>
      <p:pic>
        <p:nvPicPr>
          <p:cNvPr id="6" name="Image 1" descr="/mnt/user-data/uploads/Screenshot__89_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658368"/>
            <a:ext cx="4297680" cy="2651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440" y="3328416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7. show interface brief — все вверх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82880" y="4069080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eth0: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172.16.20.1/25    </a:t>
            </a:r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eth1: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172.16.20.129/25    </a:t>
            </a:r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eth2: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64.100.1.1/24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1440" y="4983480"/>
            <a:ext cx="8961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Лаб. №6 | Адресация IPv4/IPv6 | РУДН НПИбд-01-23 | Одеджими Олуваколаде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связности: ping и trace</a:t>
            </a:r>
            <a:endParaRPr lang="en-US" sz="2000" dirty="0"/>
          </a:p>
        </p:txBody>
      </p:sp>
      <p:pic>
        <p:nvPicPr>
          <p:cNvPr id="4" name="Image 0" descr="/mnt/user-data/uploads/Screenshot__90_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58368"/>
            <a:ext cx="5486400" cy="384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451713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8. PC1: ping/trace — шлюз достижим, другие подсети нет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852160" y="658368"/>
            <a:ext cx="3108960" cy="201168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0" y="731520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 1: 172.16.20.1 ✓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0" y="1042416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 2: * * * (нет маршрута)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0" y="1353312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 3: 172.16.20.1 (ICMP unreachable)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600" y="1664208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43600" y="1975104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Маршрутизация между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943600" y="2286000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подсетями не настроена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" y="4983480"/>
            <a:ext cx="8961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Лаб. №6 | Адресация IPv4/IPv6 | РУДН НПИбд-01-23 | Одеджими Олуваколаде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DHCP-сервер на VyOS (ODEJIMI-GW-01)</a:t>
            </a:r>
            <a:endParaRPr lang="en-US" sz="2000" dirty="0"/>
          </a:p>
        </p:txBody>
      </p:sp>
      <p:pic>
        <p:nvPicPr>
          <p:cNvPr id="4" name="Image 0" descr="/mnt/user-data/uploads/Screenshot__92_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58368"/>
            <a:ext cx="438912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3419856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9. Топология: PC1 — SW — VyOS</a:t>
            </a:r>
            <a:endParaRPr lang="en-US" sz="900" dirty="0"/>
          </a:p>
        </p:txBody>
      </p:sp>
      <p:pic>
        <p:nvPicPr>
          <p:cNvPr id="6" name="Image 1" descr="/mnt/user-data/uploads/Screenshot__93_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658368"/>
            <a:ext cx="4206240" cy="2743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54880" y="3419856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10. Конфигурация DHCP-сервера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82880" y="4114800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Параметры DHCP:
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Сеть: ODEJIMI | Домен: ODEJIMI.net | DNS: 10.0.0.1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Шлюз: 10.0.0.1 | Диапазон: 10.0.0.2 – 10.0.0.253 | Аренда: 86400 с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1440" y="4983480"/>
            <a:ext cx="8961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Лаб. №6 | Адресация IPv4/IPv6 | РУДН НПИбд-01-23 | Одеджими Олуваколаде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 DHCP: PC1 получил адрес, Wireshark</a:t>
            </a:r>
            <a:endParaRPr lang="en-US" sz="2000" dirty="0"/>
          </a:p>
        </p:txBody>
      </p:sp>
      <p:pic>
        <p:nvPicPr>
          <p:cNvPr id="4" name="Image 0" descr="/mnt/user-data/uploads/Screenshot__94_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58368"/>
            <a:ext cx="4206240" cy="2560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3236976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11. PC1: IP 10.0.0.2 от DHCP, ping шлюза</a:t>
            </a:r>
            <a:endParaRPr lang="en-US" sz="900" dirty="0"/>
          </a:p>
        </p:txBody>
      </p:sp>
      <p:pic>
        <p:nvPicPr>
          <p:cNvPr id="6" name="Image 1" descr="/mnt/user-data/uploads/Screenshot__99_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658368"/>
            <a:ext cx="4389120" cy="2560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0" y="3236976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12. Wireshark: DHCP ACK с опциями</a:t>
            </a:r>
            <a:endParaRPr lang="en-US" sz="900" dirty="0"/>
          </a:p>
        </p:txBody>
      </p:sp>
      <p:pic>
        <p:nvPicPr>
          <p:cNvPr id="8" name="Image 2" descr="/mnt/user-data/uploads/Screenshot__97_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3383280"/>
            <a:ext cx="4206240" cy="1371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82880" y="4773168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13. DHCP leases: PC1-ODEJIMI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4572000" y="3383280"/>
            <a:ext cx="4389120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4663440" y="3456432"/>
            <a:ext cx="420624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DHCP ACK (Boot Reply):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4663440" y="3762756"/>
            <a:ext cx="420624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Клиент: 10.0.0.2  |  Сервер: 10.0.0.1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4663440" y="4069080"/>
            <a:ext cx="420624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Маска: 255.255.255.0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4663440" y="4375404"/>
            <a:ext cx="420624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DNS: 10.0.0.1  |  Домен: ODEJIMI.net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91440" y="4983480"/>
            <a:ext cx="8961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Лаб. №6 | Адресация IPv4/IPv6 | РУДН НПИбд-01-23 | Одеджими Олуваколаде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Настройка DHCPv6 и IPv6 на VyOS</a:t>
            </a:r>
            <a:endParaRPr lang="en-US" sz="2000" dirty="0"/>
          </a:p>
        </p:txBody>
      </p:sp>
      <p:pic>
        <p:nvPicPr>
          <p:cNvPr id="4" name="Image 0" descr="/mnt/user-data/uploads/Screenshot__102_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58368"/>
            <a:ext cx="4297680" cy="2468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3145536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14. Топология с Alpine Linux (PC2, PC3)</a:t>
            </a:r>
            <a:endParaRPr lang="en-US" sz="900" dirty="0"/>
          </a:p>
        </p:txBody>
      </p:sp>
      <p:pic>
        <p:nvPicPr>
          <p:cNvPr id="6" name="Image 1" descr="/mnt/user-data/uploads/Screenshot__104_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658368"/>
            <a:ext cx="4297680" cy="2468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440" y="3145536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15. VyOS show interfaces: eth0/1/2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82880" y="3840480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eth0: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10.0.0.1/24  </a:t>
            </a:r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eth1: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2000::1/64  </a:t>
            </a:r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eth2: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2001::1/64</a:t>
            </a:r>
            <a:endParaRPr lang="en-US" sz="1200" dirty="0"/>
          </a:p>
        </p:txBody>
      </p:sp>
      <p:pic>
        <p:nvPicPr>
          <p:cNvPr id="9" name="Image 2" descr="/mnt/user-data/uploads/Screenshot__103_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160520"/>
            <a:ext cx="4297680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82880" y="5184648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16. DHCPv6 + router-advert конфиг</a:t>
            </a:r>
            <a:endParaRPr lang="en-US" sz="900" dirty="0"/>
          </a:p>
        </p:txBody>
      </p:sp>
      <p:sp>
        <p:nvSpPr>
          <p:cNvPr id="11" name="Shape 6"/>
          <p:cNvSpPr/>
          <p:nvPr/>
        </p:nvSpPr>
        <p:spPr>
          <a:xfrm>
            <a:off x="4663440" y="4160520"/>
            <a:ext cx="429768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4754880" y="4233672"/>
            <a:ext cx="4114800" cy="286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DHCPv6: ODEJIMI-stateless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4754880" y="4520184"/>
            <a:ext cx="4114800" cy="286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Подсеть: 2000::0/64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4754880" y="4806696"/>
            <a:ext cx="4114800" cy="286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DNS: 2000::1  |  Домен: ODEJIMI.net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91440" y="4983480"/>
            <a:ext cx="8961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Лаб. №6 | Адресация IPv4/IPv6 | РУДН НПИбд-01-23 | Одеджими Олуваколаде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IPv6: SLAAC-адресация и ICMPv6 в Wireshark</a:t>
            </a:r>
            <a:endParaRPr lang="en-US" sz="2000" dirty="0"/>
          </a:p>
        </p:txBody>
      </p:sp>
      <p:pic>
        <p:nvPicPr>
          <p:cNvPr id="4" name="Image 0" descr="/mnt/user-data/uploads/Screenshot__107_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58368"/>
            <a:ext cx="8778240" cy="384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4517136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17. Alpine PC2: глобальный IPv6 2000::e95:5bff:fe44:0/64, ICMPv6 Neighbor Advertisement в Wireshark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" y="4983480"/>
            <a:ext cx="8961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Лаб. №6 | Адресация IPv4/IPv6 | РУДН НПИбд-01-23 | Одеджими Олуваколаде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27432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658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IPv4-подсети: для сети 172.16.20.0/24 выполнено VLSM-разбиение на 3 подсети (/25, /26, /26) согласно требуемому числу узлов.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28600" y="1371600"/>
            <a:ext cx="27432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35331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IPv6-подсети: реализованы оба метода разбиения — по идентификатору подсети (/64) и по идентификатору интерфейса (/68).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28600" y="2084832"/>
            <a:ext cx="27432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2084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066544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FRR (msk-Odejimi-gw-01): настроены 3 интерфейса (eth0, eth1, eth2), шлюз доступен из каждой подсети. Для межподсетевой маршрутизации требуется дополнительная настройка.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28600" y="2798064"/>
            <a:ext cx="27432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2798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2779776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DHCP (VyOS): PC1-ODEJIMI получил адрес 10.0.0.2/24 автоматически. В Wireshark подтверждён полный DORA-цикл с корректными опциями.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28600" y="3511296"/>
            <a:ext cx="27432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3511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3493008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DHCPv6/SLAAC: Alpine Linux PC2 получил глобальный IPv6 через SLAAC. ICMPv6 Neighbor Advertisement подтверждает механизм обнаружения соседей.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28600" y="4224528"/>
            <a:ext cx="27432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4224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" y="420624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Двойной стек: VyOS успешно совмещает IPv4 (10.0.0.1/24) и IPv6 (2000::1/64, 2001::1/64) на одном маршрутизаторе.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" y="4983480"/>
            <a:ext cx="8961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Лаб. №6 | Адресация IPv4/IPv6 | РУДН НПИбд-01-23 | Одеджими Олуваколаде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№6 — Адресация IPv4 и IPv6. Двойной стек</dc:title>
  <dc:subject>PptxGenJS Presentation</dc:subject>
  <dc:creator>Одеджими Олуваколаде</dc:creator>
  <cp:lastModifiedBy>Одеджими Олуваколаде</cp:lastModifiedBy>
  <cp:revision>1</cp:revision>
  <dcterms:created xsi:type="dcterms:W3CDTF">2026-03-14T06:41:08Z</dcterms:created>
  <dcterms:modified xsi:type="dcterms:W3CDTF">2026-03-14T06:41:08Z</dcterms:modified>
</cp:coreProperties>
</file>