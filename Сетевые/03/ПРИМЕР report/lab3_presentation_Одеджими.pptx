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УНИВЕРСИТЕТ ДРУЖБЫ НАРОДОВ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Сетевые технологии  ·  НПИбд-01-23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91440" cy="1920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1887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№3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1719072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трафика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Wireshark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29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Одеджими Олуваколаде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 и задания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353312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Изучение посредством Wireshark кадров Ethernet, анализ PDU протоколов транспортного и прикладного уровней стека TCP/IP.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519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14400"/>
            <a:ext cx="4251960" cy="34747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1353312"/>
            <a:ext cx="40050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3.3.1  </a:t>
            </a:r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MAC-адресация: ipconfig, анализ адресов
</a:t>
            </a:r>
            <a:pPr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3.3.2  </a:t>
            </a:r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Кадры канального уровня: ARP и ICMP
</a:t>
            </a:r>
            <a:pPr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3.3.3  </a:t>
            </a:r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Транспортный уровень: HTTP, DNS, QUIC
</a:t>
            </a:r>
            <a:pPr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3.3.4  </a:t>
            </a:r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TCP handshake в Wireshark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Цель и задания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MAC-адресация — ipconfig и ipconfig /all (Задание 3.3.1)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5" name="Image 0" descr="/home/claude/lab3_img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86968"/>
            <a:ext cx="4251960" cy="2423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332841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1 — ipconfig: обзор адаптеров</a:t>
            </a:r>
            <a:endParaRPr lang="en-US" sz="850" dirty="0"/>
          </a:p>
        </p:txBody>
      </p:sp>
      <p:pic>
        <p:nvPicPr>
          <p:cNvPr id="7" name="Image 1" descr="/home/claude/lab3_img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86968"/>
            <a:ext cx="4251960" cy="2423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332841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5 — ipconfig /all: Wi-Fi (Realtek) — полный вывод с DHCP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28600" y="3703320"/>
            <a:ext cx="8686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28600" y="3703320"/>
            <a:ext cx="73152" cy="10241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402336" y="3703320"/>
            <a:ext cx="8321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MAC: EC-2E-98-66-53-CB 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(Realtek RTL8821CE)  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VirtualBox: 0A-00-27-00-00-14
</a:t>
            </a:r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(первые 3 байта):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EC-2E-98 → Realtek   </a:t>
            </a:r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(последние 3 байта):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66-53-CB
</a:t>
            </a:r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= 1110 1100: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IG=0 (unicast), LG=1 (локально администрируемый)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3.3.1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кадров Ethernet II: ARP и ICMP (Задание 3.3.2)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5" name="Image 0" descr="/home/claude/lab3_img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86968"/>
            <a:ext cx="2834640" cy="1874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7797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6 — ping 192.168.1.1 -n 4</a:t>
            </a:r>
            <a:endParaRPr lang="en-US" sz="850" dirty="0"/>
          </a:p>
        </p:txBody>
      </p:sp>
      <p:pic>
        <p:nvPicPr>
          <p:cNvPr id="7" name="Image 1" descr="/home/claude/lab3_img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886968"/>
            <a:ext cx="2880360" cy="1874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46120" y="277977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8 — ICMP запрос: биты MAC-адресов</a:t>
            </a:r>
            <a:endParaRPr lang="en-US" sz="850" dirty="0"/>
          </a:p>
        </p:txBody>
      </p:sp>
      <p:pic>
        <p:nvPicPr>
          <p:cNvPr id="9" name="Image 2" descr="/home/claude/lab3_img9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09360" y="886968"/>
            <a:ext cx="2606040" cy="18745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9360" y="277977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9 — ICMP ответ (frame 1143)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228600" y="3127248"/>
            <a:ext cx="201168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74320" y="31272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240280" y="3127248"/>
            <a:ext cx="320040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286000" y="312724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Запрос (frame 1142)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40680" y="3127248"/>
            <a:ext cx="320040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486400" y="312724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Ответ (frame 1143)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228600" y="3438144"/>
            <a:ext cx="2011680" cy="29260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74320" y="3438144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кадра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240280" y="3438144"/>
            <a:ext cx="3200400" cy="29260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286000" y="343814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байта (592 бит)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440680" y="3438144"/>
            <a:ext cx="3200400" cy="29260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486400" y="343814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байта (592 бит)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28600" y="3749040"/>
            <a:ext cx="2011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74320" y="374904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Ethernet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240280" y="3749040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286000" y="37490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(0x0800 IPv4)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440680" y="3749040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486400" y="374904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II (0x0800 IPv4)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228600" y="4059936"/>
            <a:ext cx="2011680" cy="29260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74320" y="405993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источника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2240280" y="4059936"/>
            <a:ext cx="3200400" cy="29260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286000" y="405993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EC:2E:98:66:53:CB (ноутбук)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5440680" y="4059936"/>
            <a:ext cx="3200400" cy="29260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486400" y="405993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C0:25:2F:19:36:F1 (шлюз)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228600" y="4370832"/>
            <a:ext cx="2011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74320" y="43708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назначения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2240280" y="4370832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2286000" y="437083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C0:25:2F:19:36:F1 (шлюз)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5440680" y="4370832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486400" y="437083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EC:2E:98:66:53:CB (ноутбук)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228600" y="4681728"/>
            <a:ext cx="2011680" cy="29260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274320" y="46817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адреса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2240280" y="4681728"/>
            <a:ext cx="3200400" cy="29260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2286000" y="468172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unicast, LG=1 (src) / LG=0 (dst)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5440680" y="4681728"/>
            <a:ext cx="3200400" cy="29260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486400" y="468172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unicast, LG=0 (src) / LG=1 (dst)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3.3.2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HTTP (протокол TCP) — фильтр: http (Задание 3.3.3)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5" name="Image 0" descr="/home/claude/lab3_img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86968"/>
            <a:ext cx="4251960" cy="2606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351129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10 — HTTP GET /hypertext/WWW/TheProject.html (frame 438)</a:t>
            </a:r>
            <a:endParaRPr lang="en-US" sz="850" dirty="0"/>
          </a:p>
        </p:txBody>
      </p:sp>
      <p:pic>
        <p:nvPicPr>
          <p:cNvPr id="7" name="Image 1" descr="/home/claude/lab3_img1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86968"/>
            <a:ext cx="4251960" cy="2606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351129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11 — HTTP 200 OK ответ сервера (frame 457)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28600" y="3840480"/>
            <a:ext cx="86868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28600" y="3840480"/>
            <a:ext cx="73152" cy="8869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402336" y="3840480"/>
            <a:ext cx="8321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GET-запрос: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192.168.1.110:63733 → 188.184.67.127:80, TCP Seq=1, PSH+ACK, 487 байт данных  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188.184.67.127:80 → 192.168.1.110:63733, text/html, 1044 байта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3.3.3 — HTTP/TCP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DNS (протокол UDP) — фильтр: dns (Задание 3.3.3)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5" name="Image 0" descr="/home/claude/lab3_img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86968"/>
            <a:ext cx="4251960" cy="2606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351129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12 — DNS запрос (frame 175): UDP порт 53, src 52533</a:t>
            </a:r>
            <a:endParaRPr lang="en-US" sz="850" dirty="0"/>
          </a:p>
        </p:txBody>
      </p:sp>
      <p:pic>
        <p:nvPicPr>
          <p:cNvPr id="7" name="Image 1" descr="/home/claude/lab3_img1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86968"/>
            <a:ext cx="4251960" cy="2606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351129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13 — DNS запрос (frame 217): UDP payload 35 байт, src 52050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28600" y="3840480"/>
            <a:ext cx="86868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28600" y="3840480"/>
            <a:ext cx="73152" cy="8869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402336" y="3840480"/>
            <a:ext cx="8321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Протокол: UDP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(без установления соединения — низкая задержка для коротких запросов)  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 назначения: 53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(DNS), src → 192.168.1.1 (шлюз = DNS-сервер). Запрос Standard query A-записи.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3.3.3 — DNS/UDP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QUIC — фильтр: quic (Задание 3.3.3)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5" name="Image 0" descr="/home/claude/lab3_img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86968"/>
            <a:ext cx="4251960" cy="2331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323697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14 — QUIC Initial (frame 156): Long Header, CRYPTO</a:t>
            </a:r>
            <a:endParaRPr lang="en-US" sz="850" dirty="0"/>
          </a:p>
        </p:txBody>
      </p:sp>
      <p:pic>
        <p:nvPicPr>
          <p:cNvPr id="7" name="Image 1" descr="/home/claude/lab3_img1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86968"/>
            <a:ext cx="425196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323697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16 — QUIC Short Header (frame 171): зашифрованный payload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28600" y="3584448"/>
            <a:ext cx="20299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28600" y="3584448"/>
            <a:ext cx="64008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" y="3621024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65760" y="385876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UDP, порт 443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423160" y="3584448"/>
            <a:ext cx="20299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23160" y="3584448"/>
            <a:ext cx="64008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1"/>
          <p:cNvSpPr/>
          <p:nvPr/>
        </p:nvSpPr>
        <p:spPr>
          <a:xfrm>
            <a:off x="2560320" y="3621024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560320" y="385876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v1 (RFC 9000)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17720" y="3584448"/>
            <a:ext cx="20299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17720" y="3584448"/>
            <a:ext cx="64008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5"/>
          <p:cNvSpPr/>
          <p:nvPr/>
        </p:nvSpPr>
        <p:spPr>
          <a:xfrm>
            <a:off x="4754880" y="3621024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пакет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754880" y="385876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Header, CRYPTO + PING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812280" y="3584448"/>
            <a:ext cx="20299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12280" y="3584448"/>
            <a:ext cx="64008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19"/>
          <p:cNvSpPr/>
          <p:nvPr/>
        </p:nvSpPr>
        <p:spPr>
          <a:xfrm>
            <a:off x="6949440" y="3621024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949440" y="3858768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payload зашифрован (KP0)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28600" y="4334256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28600" y="4334256"/>
            <a:ext cx="73152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3"/>
          <p:cNvSpPr/>
          <p:nvPr/>
        </p:nvSpPr>
        <p:spPr>
          <a:xfrm>
            <a:off x="402336" y="433425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объединяет транспортное и криптографическое рукопожатие. В отличие от TCP+TLS, QUIC требует 0-RTT или 1-RTT для установления соединения, что ускоряет загрузку страниц (HTTP/3).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3.3.3 — QUIC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73152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TCP handshake (Задание 3.3.4) — info.cern.ch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18288"/>
          </a:xfrm>
          <a:prstGeom prst="rect">
            <a:avLst/>
          </a:prstGeom>
          <a:solidFill>
            <a:srgbClr val="DDDDDD"/>
          </a:solidFill>
          <a:ln/>
        </p:spPr>
      </p:sp>
      <p:pic>
        <p:nvPicPr>
          <p:cNvPr id="5" name="Image 0" descr="/home/claude/lab3_img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86968"/>
            <a:ext cx="4251960" cy="2514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341985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17 — SYN / SYN-ACK / ACK + HTTP GET (frames 115-118)</a:t>
            </a:r>
            <a:endParaRPr lang="en-US" sz="850" dirty="0"/>
          </a:p>
        </p:txBody>
      </p:sp>
      <p:pic>
        <p:nvPicPr>
          <p:cNvPr id="7" name="Image 1" descr="/home/claude/lab3_img1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86968"/>
            <a:ext cx="4251960" cy="2514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341985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Рис. 19 — Полная последовательность: handshake + данные + FIN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28600" y="3749040"/>
            <a:ext cx="8686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SYN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298448" y="3822192"/>
            <a:ext cx="13716" cy="16459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" name="Text 8"/>
          <p:cNvSpPr/>
          <p:nvPr/>
        </p:nvSpPr>
        <p:spPr>
          <a:xfrm>
            <a:off x="1389888" y="37490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192.168.1.110 → 188.184.67.127  |  Seq=0, Win=65535, MSS=1460, WS=256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28600" y="4096512"/>
            <a:ext cx="8686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40965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SYN-ACK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298448" y="4169664"/>
            <a:ext cx="13716" cy="16459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" name="Text 12"/>
          <p:cNvSpPr/>
          <p:nvPr/>
        </p:nvSpPr>
        <p:spPr>
          <a:xfrm>
            <a:off x="1389888" y="409651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188.184.67.127 → 192.168.1.110  |  Seq=0, Ack=1, Win=64240, MSS=1460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28600" y="4443984"/>
            <a:ext cx="8686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0040" y="444398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ACK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298448" y="4517136"/>
            <a:ext cx="13716" cy="16459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Text 16"/>
          <p:cNvSpPr/>
          <p:nvPr/>
        </p:nvSpPr>
        <p:spPr>
          <a:xfrm>
            <a:off x="1389888" y="444398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192.168.1.110 → 188.184.67.127  |  Seq=1, Ack=1  →  соединение установлено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Задание 3.3.4 — TCP Handshake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384048" cy="6217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8755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987552"/>
            <a:ext cx="82387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987552"/>
            <a:ext cx="7991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MAC-адресация  —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Определены MAC-адреса всех интерфейсов. Wi-Fi: EC-2E-98-66-53-CB (OUI=Realtek, unicast, LG=1). Виртуальные адаптеры имеют локально администрируемые адреса.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792224"/>
            <a:ext cx="384048" cy="6217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79222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656" y="1792224"/>
            <a:ext cx="82387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792224"/>
            <a:ext cx="7991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Кадры Ethernet II  —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ICMP-кадры: длина 74 байта, тип 0x0800. Запрос: src=ноутбук, dst=шлюз. Ответ — роли меняются. ARP используется для разрешения IP→MAC.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596896"/>
            <a:ext cx="384048" cy="6217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259689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" y="2596896"/>
            <a:ext cx="82387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596896"/>
            <a:ext cx="7991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и DNS  —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HTTP/TCP: GET-запрос на порт 80, ответ 200 OK или 304. DNS/UDP: запрос на порт 53 → безсоединительный протокол для минимальной задержки.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401568"/>
            <a:ext cx="384048" cy="6217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340156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6656" y="3401568"/>
            <a:ext cx="82387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401568"/>
            <a:ext cx="7991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 —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работает поверх UDP на порту 443. Initial-пакет: Long Header + CRYPTO. Всё остальное — зашифровано (KP0). Объединяет транспорт и TLS (HTTP/3).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206240"/>
            <a:ext cx="384048" cy="6217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420624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" y="4206240"/>
            <a:ext cx="823874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206240"/>
            <a:ext cx="7991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Handshake  — 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шага: SYN → SYN-ACK → ACK. Seq/Ack инкрементируются. После рукопожатия — данные и закрытие соединения (FIN-ACK).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Лабораторная работа №3 — Выводы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№3 — Анализ трафика в Wireshark</dc:title>
  <dc:subject>PptxGenJS Presentation</dc:subject>
  <dc:creator>PptxGenJS</dc:creator>
  <cp:lastModifiedBy>PptxGenJS</cp:lastModifiedBy>
  <cp:revision>1</cp:revision>
  <dcterms:created xsi:type="dcterms:W3CDTF">2026-03-14T06:17:58Z</dcterms:created>
  <dcterms:modified xsi:type="dcterms:W3CDTF">2026-03-14T06:17:58Z</dcterms:modified>
</cp:coreProperties>
</file>